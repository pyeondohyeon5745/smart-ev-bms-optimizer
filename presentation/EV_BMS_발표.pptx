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1371600"/>
            <a:ext cx="1828800" cy="3200400"/>
          </a:xfrm>
          <a:prstGeom prst="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914400"/>
            <a:ext cx="1371600" cy="2286000"/>
          </a:xfrm>
          <a:prstGeom prst="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868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🔋 EV 배터리 자가진단
+ 맞춤 BMS 튜닝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Physics-Informed LSTM × 4-way 모델 비교 × NCM 실차 191대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45720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경기대학교 · 2026-05-22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920240" cy="100584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</a:rPr>
              <a:t>191대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NCM 실차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5212080"/>
            <a:ext cx="1920240" cy="100584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</a:rPr>
              <a:t>0.9233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715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LSTM 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5212080"/>
            <a:ext cx="1920240" cy="100584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5257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</a:rPr>
              <a:t>0.784%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715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RMSE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문제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전기차 배터리 교체비용 &amp; SOH 예측 부재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402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33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솔루션 아이디어 &amp; 데이터셋 소개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46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전처리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39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EVBattery NCM 191대 피처 엔지니어링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2519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배터리 열화 이론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451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SEI 성장 + 무릎효과 (2-phase 모델)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257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4-way 모델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50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LSTM / Transformer / XGBoost / Neural CDE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18872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234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Physics-Informed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627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Peukert &amp; Arrhenius 손실함수 내장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19456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2402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실험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633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R² / RMSE / MAE 비교 + SOH 곡선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20040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246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앱 데모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39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운전자 분류 → 맞춤 추천 → 수명 연장 수치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06240"/>
            <a:ext cx="5577840" cy="8686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2519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6451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기여점 · 한계 ·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문제 상황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전기차 배터리 교체비용 — 소비자의 공포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4389120"/>
          </a:xfrm>
          <a:prstGeom prst="rect">
            <a:avLst/>
          </a:prstGeom>
          <a:solidFill>
            <a:srgbClr val="18181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0116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99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[연합뉴스] 2024.03.15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"전기차 배터리 교체비 1,200만원…
중고차 값보다 비싼 수리비"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512064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아이오닉5 배터리 교체 견적 1,100~1,400만원. 차량 잔존가치보다
수리비가 높아 사실상 '폐차 권유' 사례 증가.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4389120"/>
          </a:xfrm>
          <a:prstGeom prst="rect">
            <a:avLst/>
          </a:prstGeom>
          <a:solidFill>
            <a:srgbClr val="18181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20116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99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[KBS 뉴스] 2024.06.20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"전기차 8년 탔더니 SOH 71%…
보증 기간 지나면 내 돈으로?"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512064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현대·기아 배터리 보증 10년/20만km/SOH 70%. 보증 종료 후
교체 비용 전액 자기 부담. 소비자 불안 급증.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897880"/>
            <a:ext cx="11457432" cy="685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전기차 오너의 최대 관심사 = 배터리 수명.  그런데 현재 앱/계기판은 '지금 SOH'만 보여줄 뿐, 미래 예측이 없다.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문제 상황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SOH 예측 부재 — 소비자는 아무것도 모른다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03320" cy="4663440"/>
          </a:xfrm>
          <a:prstGeom prst="rect">
            <a:avLst/>
          </a:prstGeom>
          <a:solidFill>
            <a:srgbClr val="18181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44168"/>
            <a:ext cx="228600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[MBC 뉴스] 2024.08.02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09928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"인천 청라 아파트 주차장
전기차 화재… 100여 대 피해"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54680"/>
            <a:ext cx="34290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29184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배터리 열화 상태 미파악으로 인한 전기차 화재 사고.
과충전·고온 노출 배터리의 열폭주(Thermal Runaway).
사전 SOH 모니터링의 필요성 대두.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703320" cy="4663440"/>
          </a:xfrm>
          <a:prstGeom prst="rect">
            <a:avLst/>
          </a:prstGeom>
          <a:solidFill>
            <a:srgbClr val="18181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7" y="1344168"/>
            <a:ext cx="228600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7" y="1325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[조선일보] 2024.11.10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709928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"전기차 중고차 시장 침체…
배터리 잔존가치 알 수 없어"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19" y="3154680"/>
            <a:ext cx="34290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329184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중고 전기차 구매자 78%가 '배터리 상태 불신' 응답.
딜러사도 SOH 측정 장비 없어 정확한 가치 산정 불가.
미래 수명 예측 서비스 수요 폭증.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3703320" cy="4663440"/>
          </a:xfrm>
          <a:prstGeom prst="rect">
            <a:avLst/>
          </a:prstGeom>
          <a:solidFill>
            <a:srgbClr val="18181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1344168"/>
            <a:ext cx="228600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325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[전자신문] 2025.02.14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709928"/>
            <a:ext cx="3429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"전기차 배터리 데이터
공개 안 해 소비자만 피해"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3154680"/>
            <a:ext cx="34290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291840"/>
            <a:ext cx="3429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완성차 업체들, BMS 데이터 비공개 정책 유지.
제3자 SOH 진단 서비스 불가. 소비자 정보 비대칭 심각.
오픈 데이터 기반 AI 진단 솔루션 요구 증가.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우리가 만드는 것: 오픈 NCM 데이터 + AI로 '미래 SOH 예측 + 교체 시점 + 습관 개선 효과'를 제공하는 자가진단 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우리의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현대·기아 EV 배터리 자가진단 웹앱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57400" cy="274320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차량 정보
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브랜드/모델
지역/사용연수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68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371600"/>
            <a:ext cx="2057400" cy="274320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🏎️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945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운전 습관
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175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속도·급가속
급제동·SOC폭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371600"/>
            <a:ext cx="2057400" cy="274320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463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945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LSTM R²=0.924
MC Dropout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2468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1371600"/>
            <a:ext cx="2057400" cy="274320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463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21945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열화 곡선
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30175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2-phase 물리
모델 앵커링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68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371600"/>
            <a:ext cx="2057400" cy="274320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4630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1945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맞춤 추천
 TOP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0175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Peukert·Arrhenius
수명 연장 수치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기존 서비스 vs 우리 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1338560" cy="5486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기존 계기판·앱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074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현재 SOH 숫자 하나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669280"/>
            <a:ext cx="11338560" cy="548640"/>
          </a:xfrm>
          <a:prstGeom prst="rect">
            <a:avLst/>
          </a:prstGeom>
          <a:solidFill>
            <a:srgbClr val="0F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✅  우리 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현재 SOH + 미래 열화 곡선 + 교체 시점 + 습관별 수명 연장 수치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데이터셋: EVBattery NCM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Figshare 공개 데이터 — 중국 실차 충전 이력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943600" cy="65836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📦 출처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716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Figshare 'EVBattery: A Large-Scale EV Dataset'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5943600" cy="65836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🚗 차량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488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총 465대 → 품질 필터 후 191대 (NCM 화학 99%)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943600" cy="65836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📊 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260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학습 153대 (85,648세션) / 테스트 38대 (21,629세션)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943600" cy="65836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📁 형식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03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pkl 파일 1개 = 충전 세션 1회 (전압/전류/온도/용량)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5943600" cy="65836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🔋 SOH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4805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min 64% / max 100% / mean 97.5% / std 4.27%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5943600" cy="65836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⚗️ 화학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2578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NCM (Ni-Co-Mn) ← 현대·기아 EV 99%와 동일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왜 NASA LCO 데이터를 안 쓰나?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737360"/>
            <a:ext cx="118872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783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화학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737360"/>
            <a:ext cx="123444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7830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현대·기아 EV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737360"/>
            <a:ext cx="123444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17830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EVBattery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1737360"/>
            <a:ext cx="118872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1783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NASA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331720"/>
            <a:ext cx="118872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377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NCM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331720"/>
            <a:ext cx="1234440" cy="548640"/>
          </a:xfrm>
          <a:prstGeom prst="rect">
            <a:avLst/>
          </a:prstGeom>
          <a:solidFill>
            <a:srgbClr val="0F2F1A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✅ 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2331720"/>
            <a:ext cx="1234440" cy="548640"/>
          </a:xfrm>
          <a:prstGeom prst="rect">
            <a:avLst/>
          </a:prstGeom>
          <a:solidFill>
            <a:srgbClr val="0F2F1A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23774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✅ 99%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2331720"/>
            <a:ext cx="118872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2377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926080"/>
            <a:ext cx="118872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971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LFP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926080"/>
            <a:ext cx="123444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29718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레이EV만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2926080"/>
            <a:ext cx="123444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29718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2926080"/>
            <a:ext cx="118872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32720" y="2971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3520440"/>
            <a:ext cx="118872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3566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LCO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3520440"/>
            <a:ext cx="123444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35661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3520440"/>
            <a:ext cx="123444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35661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3520440"/>
            <a:ext cx="1188720" cy="548640"/>
          </a:xfrm>
          <a:prstGeom prst="rect">
            <a:avLst/>
          </a:prstGeom>
          <a:solidFill>
            <a:srgbClr val="1E2D48"/>
          </a:solidFill>
          <a:ln w="635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32720" y="3566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✅ (실험용)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4251960"/>
            <a:ext cx="5120640" cy="54864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42793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LCO 열화 메커니즘 ≠ NCM → NASA 데이터로 학습하면
현대·기아 EV에 틀린 예측 출력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로딩 파이프라인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5394960"/>
            <a:ext cx="1188720" cy="6400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5440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pkl 병렬 로딩
(16 workers)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5440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5394960"/>
            <a:ext cx="1188720" cy="6400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5440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flat DataFrame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5440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92640" y="5394960"/>
            <a:ext cx="1463040" cy="640080"/>
          </a:xfrm>
          <a:prstGeom prst="rect">
            <a:avLst/>
          </a:prstGeom>
          <a:solidFill>
            <a:srgbClr val="1E2D4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5440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parquet 캐시
(재실행 즉시)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데이터 전처리 &amp; 피처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13개 피처 생성 — 물리 법칙 내재화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432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피처명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34440"/>
            <a:ext cx="676656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26187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234440"/>
            <a:ext cx="16459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1261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645920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1645920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642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voltage_mean / std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66420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세션 내 전압 평균·분산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6642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</a:rPr>
              <a:t>원본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93392"/>
            <a:ext cx="274320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1993392"/>
            <a:ext cx="676656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0" y="1993392"/>
            <a:ext cx="164592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011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current_mean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01168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평균 충전 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0116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</a:rPr>
              <a:t>원본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340864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340864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2340864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3591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temp_mean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35915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평균 온도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591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4A3B8"/>
                </a:solidFill>
              </a:rPr>
              <a:t>원본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88336"/>
            <a:ext cx="274320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2688336"/>
            <a:ext cx="676656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0" y="2688336"/>
            <a:ext cx="164592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7066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capacity_fade_rate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270662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5-step 이동 용량 감소율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7066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B82F6"/>
                </a:solidFill>
              </a:rPr>
              <a:t>파생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35808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3035808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0" y="3035808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0540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cycle_norm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05409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정규화 사이클 위치 [0,1]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0540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B82F6"/>
                </a:solidFill>
              </a:rPr>
              <a:t>파생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383280"/>
            <a:ext cx="274320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3383280"/>
            <a:ext cx="676656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58400" y="3383280"/>
            <a:ext cx="164592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401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c_rate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40156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전류 / 초기용량 (충전속도)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34015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C55E"/>
                </a:solidFill>
              </a:rPr>
              <a:t>물리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730752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3730752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58400" y="3730752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749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thermal_stress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74904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max(T-25°C, 0) — 과열 누적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7490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C55E"/>
                </a:solidFill>
              </a:rPr>
              <a:t>물리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78224"/>
            <a:ext cx="274320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0" y="4078224"/>
            <a:ext cx="676656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8400" y="4078224"/>
            <a:ext cx="164592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0965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degradation_index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409651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Peukert항 × Arrhenius항 복합 열화 지수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40965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C55E"/>
                </a:solidFill>
              </a:rPr>
              <a:t>물리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425696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0" y="4425696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58400" y="4425696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44439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cum_degradation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444398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누적 열화 지수 (정규화)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4443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</a:rPr>
              <a:t>v3.5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773168"/>
            <a:ext cx="274320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00400" y="4773168"/>
            <a:ext cx="676656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58400" y="4773168"/>
            <a:ext cx="164592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7914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temp_roll_5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479145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온도 5-step 이동평균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4791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</a:rPr>
              <a:t>v3.5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120640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0" y="5120640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58400" y="5120640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51389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c_rate_roll_5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0" y="513892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C-rate 5-step 이동평균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51389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</a:rPr>
              <a:t>v3.5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468112"/>
            <a:ext cx="274320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0" y="5468112"/>
            <a:ext cx="676656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58400" y="5468112"/>
            <a:ext cx="1645920" cy="32004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5486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deg_roll_5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548640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열화지수 5-step 이동평균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0" y="5486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</a:rPr>
              <a:t>v3.5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815584"/>
            <a:ext cx="274320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200400" y="5815584"/>
            <a:ext cx="676656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58400" y="5815584"/>
            <a:ext cx="1645920" cy="32004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58338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soh_norm (채널)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00400" y="583387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차량별 첫 세션 대비 정규화 SOH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5833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F4444"/>
                </a:solidFill>
              </a:rPr>
              <a:t>타겟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solidFill>
            <a:srgbClr val="0F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624535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</a:rPr>
              <a:t>soh_norm = 각 차량의 첫 세션 SOH 대비 현재 비율 → 차량 간 절대값 차이를 제거, 열화 궤적 학습에 집중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배터리 열화 이론 — 2-phase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논문 기반 물리 모델링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280160"/>
            <a:ext cx="5943600" cy="1600200"/>
          </a:xfrm>
          <a:prstGeom prst="rect">
            <a:avLst/>
          </a:prstGeom>
          <a:solidFill>
            <a:srgbClr val="1E2D4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3533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Phase 1: SEI 성장 (SOH &gt; 85%)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19072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수식: SOH = 100 - α·√t
• SEI(고체 전해질 계면) 막이 음극 표면에 성장
• 막이 두꺼울수록 반응 억제 → 열화 감속
• 참고: Ploehn et al. 2004 / Safari &amp; Delacourt 2011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017520"/>
            <a:ext cx="5943600" cy="1600200"/>
          </a:xfrm>
          <a:prstGeom prst="rect">
            <a:avLst/>
          </a:prstGeom>
          <a:solidFill>
            <a:srgbClr val="1E2D4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3090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Phase 2: 무릎 효과 (SOH &lt; 85%)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456432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수식: SOH = 100 - (100-knee)·exp(k·Δt)
• 리튬 도금(Li Plating): 고속충전 시 음극 표면 석출
• NCM 양극 입자 균열 누적 → 지수함수적 가속
• 참고: Attia et al. 2022 (Nature Energy)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754879"/>
            <a:ext cx="5943600" cy="1600200"/>
          </a:xfrm>
          <a:prstGeom prst="rect">
            <a:avLst/>
          </a:prstGeom>
          <a:solidFill>
            <a:srgbClr val="1E2D4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8280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승법 노이즈 (불확실성)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5193791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σ(t) = 1.2 × √(t / EOL)
• 오래될수록 셀 간 분산 증가 → 예측 불확실성 확대
• 앱에서 SOH ± X% 신뢰구간으로 표시
• 참고: Saha &amp; Goebel 2009 (IEEE TIM)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4-way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왜 단일 모델이 아닌 4개를 비교했나?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"특정 모델에 우연히 좋은 결과가 나온 게 아님을 증명" — 방법론의 견고성 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834640" cy="4846320"/>
          </a:xfrm>
          <a:prstGeom prst="rect">
            <a:avLst/>
          </a:prstGeom>
          <a:solidFill>
            <a:srgbClr val="1E2D4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83464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3B82F6"/>
                </a:solidFill>
              </a:rPr>
              <a:t>Long Short-Term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231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순서 있는 시계열 처리에 특화.
2층 LSTM + LayerNorm + Dropout.
멀티태스크: ΔSOH + 열화율 동시 예측.
MC Dropout으로 불확실성 정량화.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5074920"/>
            <a:ext cx="2606040" cy="502920"/>
          </a:xfrm>
          <a:prstGeom prst="rect">
            <a:avLst/>
          </a:prstGeom>
          <a:solidFill>
            <a:srgbClr val="0F2F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R² = 0.9233 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834640" cy="4846320"/>
          </a:xfrm>
          <a:prstGeom prst="rect">
            <a:avLst/>
          </a:prstGeom>
          <a:solidFill>
            <a:srgbClr val="1E2D4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554480"/>
            <a:ext cx="283464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11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22C55E"/>
                </a:solidFill>
              </a:rPr>
              <a:t>Multi-Head Self-Attention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4231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30개 세션 중 '어느 세션이 현재 SOH에
중요한지' Attention이 자동 가중치 부여.
Pre-LN + Learnable PE 사용.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5074920"/>
            <a:ext cx="2606040" cy="502920"/>
          </a:xfrm>
          <a:prstGeom prst="rect">
            <a:avLst/>
          </a:prstGeom>
          <a:solidFill>
            <a:srgbClr val="1E2D4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R² = 0.9169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834640" cy="4846320"/>
          </a:xfrm>
          <a:prstGeom prst="rect">
            <a:avLst/>
          </a:prstGeom>
          <a:solidFill>
            <a:srgbClr val="1E2D4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283464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011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BBF24"/>
                </a:solidFill>
              </a:rPr>
              <a:t>Gradient Boosted Trees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4231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딥러닝 없이 얼마나 되는지 비교 (Baseline).
30개 세션 → mean/std/min/max/slope
5개 통계 × 13피처 = 65차원 피처벡터.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9088" y="5074920"/>
            <a:ext cx="2606040" cy="502920"/>
          </a:xfrm>
          <a:prstGeom prst="rect">
            <a:avLst/>
          </a:prstGeom>
          <a:solidFill>
            <a:srgbClr val="1E2D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R² = 0.9084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554480"/>
            <a:ext cx="2834640" cy="4846320"/>
          </a:xfrm>
          <a:prstGeom prst="rect">
            <a:avLst/>
          </a:prstGeom>
          <a:solidFill>
            <a:srgbClr val="1E2D4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60" y="1554480"/>
            <a:ext cx="283464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Neural CDE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0116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EF4444"/>
                </a:solidFill>
              </a:rPr>
              <a:t>Kidger et al. 2020 (NeurIPS)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4231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불규칙 시계열 이론적 최적 모델.
dZ(t) = fθ(Z(t))·dX(t) 미분방정식 적분.
이론 ≠ 실제: 이 데이터는 규칙적이라 발산.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90888" y="5074920"/>
            <a:ext cx="2606040" cy="502920"/>
          </a:xfrm>
          <a:prstGeom prst="rect">
            <a:avLst/>
          </a:prstGeom>
          <a:solidFill>
            <a:srgbClr val="3F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51206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R² = −49 ⚠️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공통 설계 원칙: 잔차(ΔSOH) 학습 + WINDOW_SIZE=30 + AdamW + CosineAnnealing + EarlyStopping(patience=20)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LSTM &amp; Transformer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잔차 학습 + MC Dropout + Pre-LN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12064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0" y="1280160"/>
            <a:ext cx="6217920" cy="1600200"/>
          </a:xfrm>
          <a:prstGeom prst="rect">
            <a:avLst/>
          </a:prstGeom>
          <a:solidFill>
            <a:srgbClr val="1E2D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3533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잔차 학습 (ΔSOH)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719072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절대 SOH 대신 다음 스텝 변화량 예측.
SOH가 95~100%에 몰린 분포에서
'변화 없음' 과적합 방지.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3017520"/>
            <a:ext cx="6217920" cy="1600200"/>
          </a:xfrm>
          <a:prstGeom prst="rect">
            <a:avLst/>
          </a:prstGeom>
          <a:solidFill>
            <a:srgbClr val="1E2D4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30906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MC Dropout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456432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추론 시 Dropout 유지 → 50회 샘플링.
평균 = SOH 점추정 / std = 불확실성.
앱에서 SOH ± X% 로 표시.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4754879"/>
            <a:ext cx="6217920" cy="1600200"/>
          </a:xfrm>
          <a:prstGeom prst="rect">
            <a:avLst/>
          </a:prstGeom>
          <a:solidFill>
            <a:srgbClr val="1E2D4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4828031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Pre-LN 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5193791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norm_first=True → 학습 안정성 향상.
Learnable Positional Encoding:
30개 세션의 위치 중요도 학습.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Physics-Informed Loss (PINN)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Peukert &amp; Arrhenius — 물리 법칙을 손실함수에 내장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74720"/>
            <a:ext cx="59436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1280160"/>
            <a:ext cx="5943600" cy="2011680"/>
          </a:xfrm>
          <a:prstGeom prst="rect">
            <a:avLst/>
          </a:prstGeom>
          <a:solidFill>
            <a:srgbClr val="0A102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손실함수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</a:rPr>
              <a:t>L = MSE(ΔSOH_pred, ΔSOH_target)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  + λ_aux × MSE(rate_pred, rate_target)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03704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BBF24"/>
                </a:solidFill>
              </a:rPr>
              <a:t>  + λ_pinn × (Peukert위반 + Arrhenius위반)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λ_aux = 0.1 (보조 태스크 가중치)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BBF24"/>
                </a:solidFill>
              </a:rPr>
              <a:t>λ_pinn = 0.05 (물리 제약 가중치)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280160"/>
            <a:ext cx="5486400" cy="2468880"/>
          </a:xfrm>
          <a:prstGeom prst="rect">
            <a:avLst/>
          </a:prstGeom>
          <a:solidFill>
            <a:srgbClr val="1E2D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Peukert 법칙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755648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cycle-life ∝ C-rate^(-n), n=0.621
· 0.5C → 약 780사이클 수명
· 1.0C → 약 550사이클 수명
· 2.0C → 약 330사이클 수명
출처: Safari 2011 / Pelletier 2017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023360"/>
            <a:ext cx="5486400" cy="2468880"/>
          </a:xfrm>
          <a:prstGeom prst="rect">
            <a:avLst/>
          </a:prstGeom>
          <a:solidFill>
            <a:srgbClr val="1E2D4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14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Arrhenius 법칙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98848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열화율 ∝ exp(Ea/R × (1/T_ref - 1/T))
· 25°C 기준, 10°C 오를 때마다 ~1.5배 가속
· 여름 옥상 주차(+40°C) vs 지하주차
  → 수명 2~3배 차이
출처: Wang 2014 / Waldmann 2014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4-way 모델 비교 — NCM 실차 38대 테스트셋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85800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280160"/>
            <a:ext cx="1188720" cy="530352"/>
          </a:xfrm>
          <a:prstGeom prst="rect">
            <a:avLst/>
          </a:prstGeom>
          <a:solidFill>
            <a:srgbClr val="1E3A5F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32588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280160"/>
            <a:ext cx="868680" cy="530352"/>
          </a:xfrm>
          <a:prstGeom prst="rect">
            <a:avLst/>
          </a:prstGeom>
          <a:solidFill>
            <a:srgbClr val="1E3A5F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32588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280160"/>
            <a:ext cx="868680" cy="530352"/>
          </a:xfrm>
          <a:prstGeom prst="rect">
            <a:avLst/>
          </a:prstGeom>
          <a:solidFill>
            <a:srgbClr val="1E3A5F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32588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0" y="1280160"/>
            <a:ext cx="1325880" cy="530352"/>
          </a:xfrm>
          <a:prstGeom prst="rect">
            <a:avLst/>
          </a:prstGeom>
          <a:solidFill>
            <a:srgbClr val="1E3A5F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0" y="132588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비고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874519"/>
            <a:ext cx="1188720" cy="530352"/>
          </a:xfrm>
          <a:prstGeom prst="rect">
            <a:avLst/>
          </a:prstGeom>
          <a:solidFill>
            <a:srgbClr val="0F2F1A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39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C55E"/>
                </a:solidFill>
              </a:rPr>
              <a:t>LSTM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874519"/>
            <a:ext cx="868680" cy="530352"/>
          </a:xfrm>
          <a:prstGeom prst="rect">
            <a:avLst/>
          </a:prstGeom>
          <a:solidFill>
            <a:srgbClr val="0F2F1A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920239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C55E"/>
                </a:solidFill>
              </a:rPr>
              <a:t>0.9233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874519"/>
            <a:ext cx="868680" cy="530352"/>
          </a:xfrm>
          <a:prstGeom prst="rect">
            <a:avLst/>
          </a:prstGeom>
          <a:solidFill>
            <a:srgbClr val="0F2F1A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20239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C55E"/>
                </a:solidFill>
              </a:rPr>
              <a:t>0.784%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874519"/>
            <a:ext cx="1325880" cy="530352"/>
          </a:xfrm>
          <a:prstGeom prst="rect">
            <a:avLst/>
          </a:prstGeom>
          <a:solidFill>
            <a:srgbClr val="0F2F1A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920239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C55E"/>
                </a:solidFill>
              </a:rPr>
              <a:t>1위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468880"/>
            <a:ext cx="118872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51460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Transformer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2468880"/>
            <a:ext cx="86868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51460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0.9169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2468880"/>
            <a:ext cx="86868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51460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0.817%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2468880"/>
            <a:ext cx="132588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251460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2위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063240"/>
            <a:ext cx="118872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10896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XGBoost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3063240"/>
            <a:ext cx="86868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3108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0.9084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063240"/>
            <a:ext cx="86868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310896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0.857%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3063240"/>
            <a:ext cx="1325880" cy="530352"/>
          </a:xfrm>
          <a:prstGeom prst="rect">
            <a:avLst/>
          </a:prstGeom>
          <a:solidFill>
            <a:srgbClr val="1E2D48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310896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3위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657600"/>
            <a:ext cx="1188720" cy="530352"/>
          </a:xfrm>
          <a:prstGeom prst="rect">
            <a:avLst/>
          </a:prstGeom>
          <a:solidFill>
            <a:srgbClr val="3F1010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70332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</a:rPr>
              <a:t>Neural CDE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657600"/>
            <a:ext cx="868680" cy="530352"/>
          </a:xfrm>
          <a:prstGeom prst="rect">
            <a:avLst/>
          </a:prstGeom>
          <a:solidFill>
            <a:srgbClr val="3F1010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370332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</a:rPr>
              <a:t>-49.04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3657600"/>
            <a:ext cx="868680" cy="530352"/>
          </a:xfrm>
          <a:prstGeom prst="rect">
            <a:avLst/>
          </a:prstGeom>
          <a:solidFill>
            <a:srgbClr val="3F1010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3703320"/>
            <a:ext cx="868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</a:rPr>
              <a:t>20.06%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3657600"/>
            <a:ext cx="1325880" cy="530352"/>
          </a:xfrm>
          <a:prstGeom prst="rect">
            <a:avLst/>
          </a:prstGeom>
          <a:solidFill>
            <a:srgbClr val="3F1010"/>
          </a:solidFill>
          <a:ln w="3810">
            <a:solidFill>
              <a:srgbClr val="2D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370332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F4444"/>
                </a:solidFill>
              </a:rPr>
              <a:t>발산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434840"/>
            <a:ext cx="4480560" cy="914400"/>
          </a:xfrm>
          <a:prstGeom prst="rect">
            <a:avLst/>
          </a:prstGeom>
          <a:solidFill>
            <a:srgbClr val="3F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44805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CDE R²=-49 이유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8006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이론상 불규칙 시계열에 최적이나,
이 데이터는 세션 간격이 실제로 규칙적.
→ LSTM의 귀납적 편향이 더 잘 맞음.
→ 실험 비교 없이 모델 선택 금지.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5486400"/>
            <a:ext cx="4480560" cy="731520"/>
          </a:xfrm>
          <a:prstGeom prst="rect">
            <a:avLst/>
          </a:prstGeom>
          <a:solidFill>
            <a:srgbClr val="0F2F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55321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</a:rPr>
              <a:t>RMSE 0.784% = SOH 예측 오차 1% 이내
SOH 95~100% 밀집 분포에서 R²&lt;1은 정상.
실용 기준: RMSE와 MAE가 핵심.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SOH 예측 곡선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물리 모델 + LSTM 앵커링 (Hybrid 방식)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0" y="1280160"/>
            <a:ext cx="5943600" cy="1645920"/>
          </a:xfrm>
          <a:prstGeom prst="rect">
            <a:avLst/>
          </a:prstGeom>
          <a:solidFill>
            <a:srgbClr val="1E2D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3533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1️⃣ EOL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C-rate × Arrhenius(T) → eol_user 사이클 수
Peukert: EOL ∝ (1/C)^n
Arrhenius: EOL ÷ exp(Ea/R·(1/T_ref - 1/T))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063239"/>
            <a:ext cx="5943600" cy="1645920"/>
          </a:xfrm>
          <a:prstGeom prst="rect">
            <a:avLst/>
          </a:prstGeom>
          <a:solidFill>
            <a:srgbClr val="1E2D4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13639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2️⃣ 2-phase 곡선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520439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Phase1: SOH = 100 - α·√t (SEI 성장)
Phase2: SOH &lt; 85% → 지수 가속
σ(t) = 1.2·√(t/EOL) 신뢰구간 계산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846320"/>
            <a:ext cx="5943600" cy="1645920"/>
          </a:xfrm>
          <a:prstGeom prst="rect">
            <a:avLst/>
          </a:prstGeom>
          <a:solidFill>
            <a:srgbClr val="1E2D4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919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3️⃣ LSTM 앵커링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30352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실제 충전 이력 30세션 → LSTM → 현재 SOH
물리 곡선을 LSTM 추정값으로 평행이동
MC Dropout std + 승법노이즈 → 최종 신뢰구간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운전자 유형 분류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Random Forest 3-클래스 분류 — 5개 입력 피처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20640" y="1280160"/>
            <a:ext cx="6858000" cy="1600200"/>
          </a:xfrm>
          <a:prstGeom prst="rect">
            <a:avLst/>
          </a:prstGeom>
          <a:solidFill>
            <a:srgbClr val="1E2D4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3533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🟢 절약형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7373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평균속도 55 km/h / 급가속 3회/h
급제동 2회/h / SOC폭 55% / 주 2회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2423160"/>
            <a:ext cx="6492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4505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실효 C-rate 0.6C → EOL ~2200 사이클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3063239"/>
            <a:ext cx="6858000" cy="1600200"/>
          </a:xfrm>
          <a:prstGeom prst="rect">
            <a:avLst/>
          </a:prstGeom>
          <a:solidFill>
            <a:srgbClr val="1E2D4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3136391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🟡 평균형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20439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평균속도 75 km/h / 급가속 10회/h
급제동 8회/h / SOC폭 65% / 주 4회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4206239"/>
            <a:ext cx="6492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423367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실효 C-rate 1.0C → EOL ~1800 사이클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846320"/>
            <a:ext cx="6858000" cy="1600200"/>
          </a:xfrm>
          <a:prstGeom prst="rect">
            <a:avLst/>
          </a:prstGeom>
          <a:solidFill>
            <a:srgbClr val="1E2D4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49194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🔴 공격형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53035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평균속도 110 km/h / 급가속 20회/h
급제동 16회/h / SOC폭 85% / 주 6회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5989320"/>
            <a:ext cx="6492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601675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실효 C-rate 1.8C → EOL ~1100 사이클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6629400"/>
            <a:ext cx="6858000" cy="2743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6647688"/>
            <a:ext cx="6583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Random Forest 300 trees · 합성 900명(유형당 300) · 5-피처 StandardScaler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맞춤 추천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Peukert &amp; Arrhenius 기반 수명 연장 정량화 — TOP 3 출력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단순 "완속충전 하세요" → 본인 패턴에서 효과 큰 행동 TOP 3, 수치로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3657600"/>
          </a:xfrm>
          <a:prstGeom prst="rect">
            <a:avLst/>
          </a:prstGeom>
          <a:solidFill>
            <a:srgbClr val="1E2D4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🥇 우선순위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🛣️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7860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평균 주행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809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85 km/h → 80 km/h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3474720" cy="594360"/>
          </a:xfrm>
          <a:prstGeom prst="rect">
            <a:avLst/>
          </a:prstGeom>
          <a:solidFill>
            <a:srgbClr val="0F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1985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+1년 4개월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근거: Peukert n=0.621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15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난이도: 쉬움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749039" cy="3657600"/>
          </a:xfrm>
          <a:prstGeom prst="rect">
            <a:avLst/>
          </a:prstGeom>
          <a:solidFill>
            <a:srgbClr val="1E2D4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627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🥈 우선순위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9202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57860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충전 SOC 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809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85% → 60% (20-80%)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401568"/>
            <a:ext cx="3474720" cy="594360"/>
          </a:xfrm>
          <a:prstGeom prst="rect">
            <a:avLst/>
          </a:prstGeom>
          <a:solidFill>
            <a:srgbClr val="0F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41985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+1년 2개월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041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C55E"/>
                </a:solidFill>
              </a:rPr>
              <a:t>근거: 음극 응력 (Attia 2020)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15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난이도: 쉬움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54480"/>
            <a:ext cx="3749039" cy="3657600"/>
          </a:xfrm>
          <a:prstGeom prst="rect">
            <a:avLst/>
          </a:prstGeom>
          <a:solidFill>
            <a:srgbClr val="1E2D4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627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🥉 우선순위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9202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7860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주차 환경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809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옥상→지하 주차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401568"/>
            <a:ext cx="3474720" cy="594360"/>
          </a:xfrm>
          <a:prstGeom prst="rect">
            <a:avLst/>
          </a:prstGeom>
          <a:solidFill>
            <a:srgbClr val="0F2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41985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+1년 0개월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041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BBF24"/>
                </a:solidFill>
              </a:rPr>
              <a:t>근거: Arrhenius Ea=31kJ/mol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315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난이도: 중간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49240"/>
            <a:ext cx="11430000" cy="685800"/>
          </a:xfrm>
          <a:prstGeom prst="rect">
            <a:avLst/>
          </a:prstGeom>
          <a:solidFill>
            <a:srgbClr val="0F2F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949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3개 모두 적용 시 → +3년 6개월 수명 연장 (중복 효과 0.7 factor 적용)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376672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</a:rPr>
              <a:t>절감 비용
약 504만원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144768"/>
            <a:ext cx="11430000" cy="50292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Peukert 수명 연장: base × 0.30 × (1 - (C_target/C_current)^n)  |  Arrhenius 수명 연장: base × 0.30 × (1 - 1/ratio)  |  base = 10년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앱 시연 — streamlit run 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실제 입력 예시: 아이오닉5 서울 10년 135,000km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43200" cy="5394960"/>
          </a:xfrm>
          <a:prstGeom prst="rect">
            <a:avLst/>
          </a:prstGeom>
          <a:solidFill>
            <a:srgbClr val="1621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🔋 BMS 튜닝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916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브랜드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현대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939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93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아이오닉5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963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96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롱레인지 2WD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배터리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98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84 kWh / 697V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0098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지역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00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서울 12.5°C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033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03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지하 (안정)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0565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056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10년 / 135,000km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5079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속도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079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75 km/h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9103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급가속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103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10회/h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126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SOC폭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126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7150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충전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715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주 4회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126480"/>
            <a:ext cx="25603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144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🔍 분석하기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1234440"/>
            <a:ext cx="2057400" cy="1097280"/>
          </a:xfrm>
          <a:prstGeom prst="rect">
            <a:avLst/>
          </a:prstGeom>
          <a:solidFill>
            <a:srgbClr val="1E2D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129844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🟡 평균형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운전자 유형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1234440"/>
            <a:ext cx="2057400" cy="109728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129844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77.7%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현재 SOH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79" y="1234440"/>
            <a:ext cx="2057400" cy="1097280"/>
          </a:xfrm>
          <a:prstGeom prst="rect">
            <a:avLst/>
          </a:prstGeom>
          <a:solidFill>
            <a:srgbClr val="1E2D4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79" y="129844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12년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예상 총 수명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1234440"/>
            <a:ext cx="2057400" cy="1097280"/>
          </a:xfrm>
          <a:prstGeom prst="rect">
            <a:avLst/>
          </a:prstGeom>
          <a:solidFill>
            <a:srgbClr val="1E2D4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129844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</a:rPr>
              <a:t>+3년 6개월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개선 시 연장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423160"/>
            <a:ext cx="5486400" cy="256032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246120" y="5074920"/>
            <a:ext cx="2788920" cy="1417320"/>
          </a:xfrm>
          <a:prstGeom prst="rect">
            <a:avLst/>
          </a:prstGeom>
          <a:solidFill>
            <a:srgbClr val="1E2D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🥇 평균 주행 속도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5577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+1년 4개월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074920"/>
            <a:ext cx="2788920" cy="1417320"/>
          </a:xfrm>
          <a:prstGeom prst="rect">
            <a:avLst/>
          </a:prstGeom>
          <a:solidFill>
            <a:srgbClr val="1E2D4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🥈 충전 SOC 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577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+1년 2개월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5074920"/>
            <a:ext cx="2788920" cy="1417320"/>
          </a:xfrm>
          <a:prstGeom prst="rect">
            <a:avLst/>
          </a:prstGeom>
          <a:solidFill>
            <a:srgbClr val="1E2D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🥉 주차 환경 온도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5577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+1년 0개월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추가 실험 — PINN Ablation &amp; 발표 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λ_pinn 값에 따른 성능 변화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280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발표 핵심 수치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91640"/>
            <a:ext cx="5760720" cy="420624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728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학습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7282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NCM 실차 153대 / 85,648세션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48840"/>
            <a:ext cx="5760720" cy="420624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21854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테스트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854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38대 / 21,629세션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606040"/>
            <a:ext cx="5760720" cy="420624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6426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LSTM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426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0.9233 (1위)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063240"/>
            <a:ext cx="5760720" cy="420624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0998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LSTM 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0998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0.784%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20440"/>
            <a:ext cx="5760720" cy="420624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557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모델 순위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5570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LSTM &gt; Transformer &gt; XGBoost &gt; CDE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977639"/>
            <a:ext cx="5760720" cy="420624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401421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Peukert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014215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0.621 (Safari 2011)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434840"/>
            <a:ext cx="5760720" cy="420624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44714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Arrhenius 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714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31,000 J/mol (Wang 2014)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892040"/>
            <a:ext cx="5760720" cy="420624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49286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무릎 임계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9286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SOH 85% (Attia 2022, Nature Energy)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349240"/>
            <a:ext cx="5760720" cy="420624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53858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보증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3858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10년 / 20만km / SOH 70%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806440"/>
            <a:ext cx="5760720" cy="420624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5843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교체 비용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8430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약 1,200만원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결론 및 향후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🎯 기여점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338560" cy="45720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 NCM 실차 191대 데이터로 현대·기아 EV에 실제 적용 가능한 SOH 예측 시스템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47088"/>
            <a:ext cx="11338560" cy="4572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 4-way 모델 비교(LSTM/Transformer/XGBoost/CDE)로 방법론 견고성 실험적 증명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68296"/>
            <a:ext cx="11338560" cy="45720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 Physics-Informed Loss(Peukert + Arrhenius)로 데이터 외 구간 신뢰성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9504"/>
            <a:ext cx="11338560" cy="4572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16936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 2-phase 열화 모델 + LSTM 앵커링 Hybrid 방식으로 현실적 SOH 곡선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10711"/>
            <a:ext cx="11338560" cy="457200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3814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✅  운전 습관 5개 입력 → Peukert/Arrhenius 기반 정량적 맞춤 추천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507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⚠️ 한계점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중국 실차 데이터 → 한국 실도로 조건과 미세 차이 존재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18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SOH 분포 95~100% 밀집 → 낮은 SOH 구간 데이터 부족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02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Neural CDE 발산 → 하이퍼파라미터 추가 탐색 여지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507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🚀 향후 연구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34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한국 실차 데이터 수집 → 도메인 적응 파인튜닝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18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OBD-II 연동 → 실시간 SOH 업데이트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202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Neural CDE 하이퍼파라미터 최적화 재도전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15000"/>
            <a:ext cx="1133856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LSTM R²=0.9233 · RMSE=0.784%  |  Peukert n=0.621 · Arrhenius Ea=31kJ/mol  |  NCM 실차 191대  |  물리모델 + AI 앵커링 Hybrid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"현재 SOH 숫자 하나"에서 → "미래 열화 곡선 + 교체 시점 + 맞춤 행동 수치"로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